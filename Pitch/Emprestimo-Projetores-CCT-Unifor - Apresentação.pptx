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1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13355C"/>
          </a:solidFill>
        </p:spPr>
      </p:sp>
      <p:sp>
        <p:nvSpPr>
          <p:cNvPr id="3" name="Shape 1"/>
          <p:cNvSpPr/>
          <p:nvPr/>
        </p:nvSpPr>
        <p:spPr>
          <a:xfrm>
            <a:off x="8229600" y="3291840"/>
            <a:ext cx="2926080" cy="2926080"/>
          </a:xfrm>
          <a:prstGeom prst="ellipse">
            <a:avLst/>
          </a:prstGeom>
          <a:solidFill>
            <a:srgbClr val="0B2138"/>
          </a:solidFill>
        </p:spPr>
      </p:sp>
      <p:sp>
        <p:nvSpPr>
          <p:cNvPr id="4" name="Shape 2"/>
          <p:cNvSpPr/>
          <p:nvPr/>
        </p:nvSpPr>
        <p:spPr>
          <a:xfrm>
            <a:off x="548640" y="502920"/>
            <a:ext cx="841248" cy="841248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c/monitor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4" y="721644"/>
            <a:ext cx="403799" cy="4037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56692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C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UNIFOR · CCT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81328" y="89611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Centro de Ciências Tecnológicas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78638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de Empréstimo</a:t>
            </a:r>
            <a:endParaRPr lang="en-US" sz="4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Projetores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66928" y="3200400"/>
            <a:ext cx="694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Protótipo de interface e visão de requisitos do sistema de gestão de projetores do CCT.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39319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224528"/>
            <a:ext cx="1969618" cy="475488"/>
          </a:xfrm>
          <a:prstGeom prst="roundRect">
            <a:avLst>
              <a:gd name="adj" fmla="val 50000"/>
            </a:avLst>
          </a:prstGeom>
          <a:solidFill>
            <a:srgbClr val="13355C"/>
          </a:solidFill>
        </p:spPr>
      </p:sp>
      <p:sp>
        <p:nvSpPr>
          <p:cNvPr id="12" name="Shape 9"/>
          <p:cNvSpPr/>
          <p:nvPr/>
        </p:nvSpPr>
        <p:spPr>
          <a:xfrm>
            <a:off x="676656" y="4297680"/>
            <a:ext cx="310896" cy="310896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3" name="Image 1" descr="/home/claude/ic/check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89" y="4378513"/>
            <a:ext cx="149230" cy="1492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4224528"/>
            <a:ext cx="146669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João Gabriel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19426" y="4224528"/>
            <a:ext cx="1885493" cy="475488"/>
          </a:xfrm>
          <a:prstGeom prst="roundRect">
            <a:avLst>
              <a:gd name="adj" fmla="val 50000"/>
            </a:avLst>
          </a:prstGeom>
          <a:solidFill>
            <a:srgbClr val="13355C"/>
          </a:solidFill>
        </p:spPr>
      </p:sp>
      <p:sp>
        <p:nvSpPr>
          <p:cNvPr id="16" name="Shape 12"/>
          <p:cNvSpPr/>
          <p:nvPr/>
        </p:nvSpPr>
        <p:spPr>
          <a:xfrm>
            <a:off x="2829154" y="4297680"/>
            <a:ext cx="310896" cy="310896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2" descr="/home/claude/ic/check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987" y="4378513"/>
            <a:ext cx="149230" cy="1492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76626" y="4224528"/>
            <a:ext cx="1382573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Paulo Vitor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87798" y="4224528"/>
            <a:ext cx="1885493" cy="475488"/>
          </a:xfrm>
          <a:prstGeom prst="roundRect">
            <a:avLst>
              <a:gd name="adj" fmla="val 50000"/>
            </a:avLst>
          </a:prstGeom>
          <a:solidFill>
            <a:srgbClr val="13355C"/>
          </a:solidFill>
        </p:spPr>
      </p:sp>
      <p:sp>
        <p:nvSpPr>
          <p:cNvPr id="20" name="Shape 15"/>
          <p:cNvSpPr/>
          <p:nvPr/>
        </p:nvSpPr>
        <p:spPr>
          <a:xfrm>
            <a:off x="4897526" y="4297680"/>
            <a:ext cx="310896" cy="310896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/home/claude/ic/check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59" y="4378513"/>
            <a:ext cx="149230" cy="1492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44998" y="4224528"/>
            <a:ext cx="1382573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Bruno Abreu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03520" y="4681728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E97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Engenharia de Requisitos de Software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ROTEIRO DA APRESENTAÇÃO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566928" y="160934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55448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Contexto e problema atual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457200" cy="45720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8" name="Text 6"/>
          <p:cNvSpPr/>
          <p:nvPr/>
        </p:nvSpPr>
        <p:spPr>
          <a:xfrm>
            <a:off x="566928" y="22860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231136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Visão geral da solução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2962656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66928" y="29626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907792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 o sistema entrega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3639312"/>
            <a:ext cx="457200" cy="45720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14" name="Text 12"/>
          <p:cNvSpPr/>
          <p:nvPr/>
        </p:nvSpPr>
        <p:spPr>
          <a:xfrm>
            <a:off x="566928" y="36393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584448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Partes interessadas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315968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66928" y="431596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261104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Personas de usuário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9728" y="468655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493776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736592" y="1609344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4736592" y="160934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pt-B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pt-BR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40096" y="155448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Diagrama e casos de uso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736592" y="2286000"/>
            <a:ext cx="457200" cy="45720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26" name="Text 24"/>
          <p:cNvSpPr/>
          <p:nvPr/>
        </p:nvSpPr>
        <p:spPr>
          <a:xfrm>
            <a:off x="4736592" y="22860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pt-B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pt-BR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40096" y="2231136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Regras de negócio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736592" y="2962656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4736592" y="29626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pt-B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pt-BR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40096" y="2907792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Requisitos não funcionais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736592" y="3639312"/>
            <a:ext cx="457200" cy="45720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32" name="Text 30"/>
          <p:cNvSpPr/>
          <p:nvPr/>
        </p:nvSpPr>
        <p:spPr>
          <a:xfrm>
            <a:off x="4736592" y="36393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altLang="en-US" sz="1400" dirty="0"/>
              <a:t>09</a:t>
            </a:r>
            <a:endParaRPr lang="pt-BR" alt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0096" y="3584448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Arquitetura e componentes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4736592" y="4315968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4736592" y="431596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pt-B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pt-BR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40096" y="4261104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Protótipo de telas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736592" y="49926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0096" y="493776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COMO FUNCIONA HOJE NO CCT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controle de empréstimo de projetores do CCT ainda é manual — baseado em papel e chave física. Isso gera retrabalho, falhas e ausência de dados para a gestão.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1947672" cy="2286000"/>
          </a:xfrm>
          <a:prstGeom prst="roundRect">
            <a:avLst>
              <a:gd name="adj" fmla="val 469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2496312"/>
            <a:ext cx="658368" cy="658368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claude/ic/file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184" y="266748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264408"/>
            <a:ext cx="172821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Controle em papel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3721608"/>
            <a:ext cx="165506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Formulário preenchido à mão a cada empréstimo.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79192" y="2240280"/>
            <a:ext cx="1947672" cy="2286000"/>
          </a:xfrm>
          <a:prstGeom prst="roundRect">
            <a:avLst>
              <a:gd name="adj" fmla="val 469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2496312"/>
            <a:ext cx="658368" cy="658368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1" descr="/home/claude/ic/key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448" y="266748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3264408"/>
            <a:ext cx="172821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Chave física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25496" y="3721608"/>
            <a:ext cx="165506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Risco constante de perda e extravio das chaves.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91456" y="2240280"/>
            <a:ext cx="1947672" cy="2286000"/>
          </a:xfrm>
          <a:prstGeom prst="roundRect">
            <a:avLst>
              <a:gd name="adj" fmla="val 469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31536" y="2496312"/>
            <a:ext cx="658368" cy="65836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2" descr="/home/claude/ic/warn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712" y="266748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01184" y="3264408"/>
            <a:ext cx="172821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rastreabilidade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37760" y="3721608"/>
            <a:ext cx="165506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Difícil saber quem está com cada projetor.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03720" y="2240280"/>
            <a:ext cx="1947672" cy="2286000"/>
          </a:xfrm>
          <a:prstGeom prst="roundRect">
            <a:avLst>
              <a:gd name="adj" fmla="val 469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2496312"/>
            <a:ext cx="658368" cy="658368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2" name="Image 3" descr="/home/claude/ic/eyeslash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976" y="2667488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13448" y="3264408"/>
            <a:ext cx="172821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dados de gestão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50024" y="3721608"/>
            <a:ext cx="165506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Nenhuma métrica de uso para o coordenador.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Visão Geral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solução proposta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46177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sistema digitaliza todo o processo</a:t>
            </a: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identificação do professor por biometria, registro automático do empréstimo e da devolução, e métricas em tempo real para a gestão do acervo de projetores.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457200" cy="45720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bolt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192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3182112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Mais agilidade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438144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Atendimento sem preenchimento manual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858768"/>
            <a:ext cx="457200" cy="45720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0" name="Image 1" descr="/home/claude/ic/barcod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776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84048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Rastreabilidade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409651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projetor por ID e código de barras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4517136"/>
            <a:ext cx="457200" cy="45720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4" name="Image 2" descr="/home/claude/ic/seguranca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3600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9884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perda de chaves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54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Controle digital e auditável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0" y="141732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760720" y="16276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PERFIS DE USUÁRIO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760720" y="2057400"/>
            <a:ext cx="566928" cy="56692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0" name="Image 3" descr="/home/claude/ic/funcionario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121" y="220480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205740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do CCT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46520" y="2331720"/>
            <a:ext cx="21945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 empréstimos e devoluções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760720" y="2926080"/>
            <a:ext cx="566928" cy="56692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4" name="Image 4" descr="/home/claude/ic/professor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121" y="3073481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46520" y="292608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46520" y="3200400"/>
            <a:ext cx="21945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Identifica-se por biometria e recebe o equipamento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760720" y="3794760"/>
            <a:ext cx="566928" cy="56692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8" name="Image 5" descr="/home/claude/ic/coordenador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8121" y="3942161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46520" y="379476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Coordenador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6446520" y="4069080"/>
            <a:ext cx="21945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Acompanha métricas e relatórios de uso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RESULTADOS PARA O CCT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 o Sistema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968496" cy="1481328"/>
          </a:xfrm>
          <a:prstGeom prst="roundRect">
            <a:avLst>
              <a:gd name="adj" fmla="val 6173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01368"/>
            <a:ext cx="658368" cy="658368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file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560" y="197254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746504"/>
            <a:ext cx="27797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Fim do papel e da chave física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91056" y="2276856"/>
            <a:ext cx="277977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 de empréstimo digital de ponta a ponta.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0016" y="1508760"/>
            <a:ext cx="3968496" cy="1481328"/>
          </a:xfrm>
          <a:prstGeom prst="roundRect">
            <a:avLst>
              <a:gd name="adj" fmla="val 6173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801368"/>
            <a:ext cx="658368" cy="658368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/home/claude/ic/barcod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648" y="197254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24144" y="1746504"/>
            <a:ext cx="27797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Rastreabilidade total do acervo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24144" y="2276856"/>
            <a:ext cx="277977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projetor controlado por ID e código de barras.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3154680"/>
            <a:ext cx="3968496" cy="1481328"/>
          </a:xfrm>
          <a:prstGeom prst="roundRect">
            <a:avLst>
              <a:gd name="adj" fmla="val 6173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447288"/>
            <a:ext cx="658368" cy="65836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6" name="Image 2" descr="/home/claude/ic/relatorios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60" y="361846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1056" y="3392424"/>
            <a:ext cx="27797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Decisões baseadas em dados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91056" y="3922776"/>
            <a:ext cx="277977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Métricas de uso por professor, disciplina e horário.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0016" y="3154680"/>
            <a:ext cx="3968496" cy="1481328"/>
          </a:xfrm>
          <a:prstGeom prst="roundRect">
            <a:avLst>
              <a:gd name="adj" fmla="val 6173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447288"/>
            <a:ext cx="658368" cy="658368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/home/claude/ic/usershield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648" y="361846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24144" y="3392424"/>
            <a:ext cx="27797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Segurança e conformidade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24144" y="3922776"/>
            <a:ext cx="277977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por perfil, auditoria e dados protegidos (LGPD).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QUEM PARTICIPA DO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Partes Interessadas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8028432" cy="658368"/>
          </a:xfrm>
          <a:prstGeom prst="roundRect">
            <a:avLst>
              <a:gd name="adj" fmla="val 11111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university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007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481328"/>
            <a:ext cx="22402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CCT / Unifor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566160" y="1481328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481328"/>
            <a:ext cx="3200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Gerencia projetores, autoriza empréstimos e consulta métricas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212848"/>
            <a:ext cx="8028432" cy="658368"/>
          </a:xfrm>
          <a:prstGeom prst="roundRect">
            <a:avLst>
              <a:gd name="adj" fmla="val 11111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313432"/>
            <a:ext cx="457200" cy="45720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1" descr="/home/claude/ic/professor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43230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2212848"/>
            <a:ext cx="22402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2212848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Beneficiário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03520" y="2212848"/>
            <a:ext cx="3200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Solicita projetor, faz a leitura biométrica e devolve o equipamento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2944368"/>
            <a:ext cx="8028432" cy="658368"/>
          </a:xfrm>
          <a:prstGeom prst="roundRect">
            <a:avLst>
              <a:gd name="adj" fmla="val 11111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3232" y="3044952"/>
            <a:ext cx="457200" cy="457200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8" name="Image 2" descr="/home/claude/ic/funcionari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2944368"/>
            <a:ext cx="22402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do CCT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566160" y="2944368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Usuário operador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0" y="2944368"/>
            <a:ext cx="3200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 empréstimos e devoluções e opera o sistema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66928" y="3675888"/>
            <a:ext cx="8028432" cy="658368"/>
          </a:xfrm>
          <a:prstGeom prst="roundRect">
            <a:avLst>
              <a:gd name="adj" fmla="val 11111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3232" y="3776472"/>
            <a:ext cx="457200" cy="45720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4" name="Image 3" descr="/home/claude/ic/coordenador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8953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8448" y="3675888"/>
            <a:ext cx="22402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Coordenador do CCT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3566160" y="3675888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Usuário gerencial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03520" y="3675888"/>
            <a:ext cx="3200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 relatórios e métricas de uso dos projetores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66928" y="4407408"/>
            <a:ext cx="8028432" cy="658368"/>
          </a:xfrm>
          <a:prstGeom prst="roundRect">
            <a:avLst>
              <a:gd name="adj" fmla="val 11111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3232" y="4507992"/>
            <a:ext cx="457200" cy="45720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0" name="Image 4" descr="/home/claude/ic/laptopcode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626864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4407408"/>
            <a:ext cx="22402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Equipe de TI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3566160" y="4407408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303520" y="4407408"/>
            <a:ext cx="3200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 e mantém o sistema em operação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 QUEM CONSTRUÍMOS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Personas de Usuário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15184" cy="301752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1700784"/>
            <a:ext cx="804672" cy="804672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funcionario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399" y="1909999"/>
            <a:ext cx="386243" cy="3862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560320"/>
            <a:ext cx="23408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do CCT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944368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Servidor que gerencia o acervo e atende os professores no balcão.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9808" y="3749040"/>
            <a:ext cx="22494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10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
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empréstimos e devoluções de forma rápida, sem preenchimento manual.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1463040"/>
            <a:ext cx="2615184" cy="301752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8536" y="1700784"/>
            <a:ext cx="804672" cy="804672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1" descr="/home/claude/ic/professor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51" y="1909999"/>
            <a:ext cx="386243" cy="3862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560320"/>
            <a:ext cx="23408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2944368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Docente que precisa de projetor para ministrar suas aulas.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66160" y="3749040"/>
            <a:ext cx="22494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10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
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Obter o equipamento de forma ágil e receber a confirmação, sem formulários longos.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99632" y="1463040"/>
            <a:ext cx="2615184" cy="301752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4888" y="1700784"/>
            <a:ext cx="804672" cy="804672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8" name="Image 2" descr="/home/claude/ic/coordenador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103" y="1909999"/>
            <a:ext cx="386243" cy="3862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2560320"/>
            <a:ext cx="23408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Coordenador do CCT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82512" y="2944368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Gestor responsável pelo departamento e pelos recursos do CCT.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82512" y="3749040"/>
            <a:ext cx="22494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1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
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Acessar métricas de uso para decisões — ampliar o acervo e alocar por turno.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CAPACIDADES CENTRAIS DO PROTÓTIPO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Funcionalidades Principais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566928" cy="566928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biometria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184818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700784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Biometria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2304288"/>
            <a:ext cx="21945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 o professor pela digital, sem digitar nome ou matrícula.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3364992" y="148132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700784"/>
            <a:ext cx="566928" cy="566928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/home/claude/ic/emprestim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561" y="184818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42816" y="1700784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Empréstimo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84448" y="2304288"/>
            <a:ext cx="21945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 o projetor por ID e código de barras vinculado ao professor.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181344" y="148132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1700784"/>
            <a:ext cx="566928" cy="56692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6" name="Image 2" descr="/home/claude/ic/devoluca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184818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9168" y="1700784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Devolução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304288"/>
            <a:ext cx="21945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Dá baixa no empréstimo e libera o projetor na hora.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548640" y="3090672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310128"/>
            <a:ext cx="566928" cy="566928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/home/claude/ic/emai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345752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26464" y="3310128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Notificação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8096" y="3913632"/>
            <a:ext cx="21945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Envia e-mail automático de confirmação ao professor.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3364992" y="3090672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66160" y="3310128"/>
            <a:ext cx="566928" cy="566928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6" name="Image 4" descr="/home/claude/ic/relatorios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561" y="345752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42816" y="3310128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Relatórios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584448" y="3913632"/>
            <a:ext cx="21945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Métricas de uso por professor, disciplina e horário de pico.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181344" y="3090672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82512" y="3310128"/>
            <a:ext cx="566928" cy="566928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1" name="Image 5" descr="/home/claude/ic/seguranca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345752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59168" y="3310128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Segurança &amp; LGPD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400800" y="3913632"/>
            <a:ext cx="21945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por perfil, histórico auditável e dados protegidos.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VISÃO UML DO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Diagrama de Caso de Uso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5328" y="1353312"/>
            <a:ext cx="7233343" cy="3145536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media/diagrama-cd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336" y="1417320"/>
            <a:ext cx="7105327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Atores — Funcionário, Professor e Coordenador — e suas interações com os principais casos de uso do sistema.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PRINCIPAIS FLUXOS DO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Casos de Uso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15184" cy="301752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603504" cy="603504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emprestimo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295" y="1857695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00784"/>
            <a:ext cx="16093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CDU-01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81328" y="1975104"/>
            <a:ext cx="16093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Empréstimo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697480"/>
            <a:ext cx="21945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ATOR 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do CCT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" y="3108960"/>
            <a:ext cx="21945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 o professor por biometria e registra o empréstimo do projetor.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" y="3977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</p:spPr>
      </p:sp>
      <p:sp>
        <p:nvSpPr>
          <p:cNvPr id="12" name="Text 9"/>
          <p:cNvSpPr/>
          <p:nvPr/>
        </p:nvSpPr>
        <p:spPr>
          <a:xfrm>
            <a:off x="841248" y="3977640"/>
            <a:ext cx="1645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Frequência: </a:t>
            </a:r>
            <a:r>
              <a:rPr lang="en-US" sz="9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83280" y="1463040"/>
            <a:ext cx="2615184" cy="301752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02736" y="1700784"/>
            <a:ext cx="603504" cy="60350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5" name="Image 1" descr="/home/claude/ic/devoluca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47" y="1857695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97680" y="1700784"/>
            <a:ext cx="16093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CDU-02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97680" y="1975104"/>
            <a:ext cx="16093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Devolução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02736" y="2697480"/>
            <a:ext cx="21945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ATOR 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do CCT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602736" y="3108960"/>
            <a:ext cx="21945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Encerra o empréstimo ativo e atualiza o projetor para "disponível".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02736" y="3977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</p:spPr>
      </p:sp>
      <p:sp>
        <p:nvSpPr>
          <p:cNvPr id="21" name="Text 17"/>
          <p:cNvSpPr/>
          <p:nvPr/>
        </p:nvSpPr>
        <p:spPr>
          <a:xfrm>
            <a:off x="3657600" y="3977640"/>
            <a:ext cx="1645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Frequência: </a:t>
            </a:r>
            <a:r>
              <a:rPr lang="en-US" sz="9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99632" y="1463040"/>
            <a:ext cx="2615184" cy="301752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19088" y="1700784"/>
            <a:ext cx="603504" cy="603504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4" name="Image 2" descr="/home/claude/ic/relatorios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99" y="1857695"/>
            <a:ext cx="289682" cy="28968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14032" y="1700784"/>
            <a:ext cx="16093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CDU-03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114032" y="1975104"/>
            <a:ext cx="16093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Consultar Relatórios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6419088" y="2697480"/>
            <a:ext cx="21945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ATOR 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Coordenador do CCT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419088" y="3108960"/>
            <a:ext cx="21945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 métricas de uso dos projetores para a gestão do acervo.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19088" y="3977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</p:spPr>
      </p:sp>
      <p:sp>
        <p:nvSpPr>
          <p:cNvPr id="30" name="Text 25"/>
          <p:cNvSpPr/>
          <p:nvPr/>
        </p:nvSpPr>
        <p:spPr>
          <a:xfrm>
            <a:off x="6473952" y="3977640"/>
            <a:ext cx="1645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Frequência: </a:t>
            </a:r>
            <a:r>
              <a:rPr lang="en-US" sz="9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Média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CDU-01 · REGISTRAR EMPRÉSTIMO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Fluxo do Caso de Uso Central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FLUXO PRINCIPAL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566928" y="1783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746504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 faz a leitura biométrica no balcão de atendimento.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66928" y="2226564"/>
            <a:ext cx="365760" cy="36576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9" name="Text 7"/>
          <p:cNvSpPr/>
          <p:nvPr/>
        </p:nvSpPr>
        <p:spPr>
          <a:xfrm>
            <a:off x="566928" y="222656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2189988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identifica o professor (Sistema Acadêmico) e traz seus dados.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66928" y="2670048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566928" y="26700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2633472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Formulário preenchido automaticamente: nome, matrícula, disciplina e data/hora.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" y="3113532"/>
            <a:ext cx="365760" cy="36576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15" name="Text 13"/>
          <p:cNvSpPr/>
          <p:nvPr/>
        </p:nvSpPr>
        <p:spPr>
          <a:xfrm>
            <a:off x="566928" y="311353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" y="3076956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confere os dados e seleciona o projetor disponível (nº + código de barras).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66928" y="3557016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566928" y="355701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3520440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registra o empréstimo e marca o projetor como "emprestado".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66928" y="4000500"/>
            <a:ext cx="365760" cy="365760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21" name="Text 19"/>
          <p:cNvSpPr/>
          <p:nvPr/>
        </p:nvSpPr>
        <p:spPr>
          <a:xfrm>
            <a:off x="566928" y="40005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3963924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envia e-mail de confirmação ao professor.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566928" y="4443984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66928" y="444398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4407408"/>
            <a:ext cx="4069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Funcionário entrega o projetor e conclui o atendimento.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440680" y="141732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62763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FLUXOS ALTERNATIVOS E EXCEÇÕES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2011680"/>
            <a:ext cx="457200" cy="45720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9" name="Image 0" descr="/home/claude/ic/warn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130552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236208" y="1975104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Empréstimo em aberto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36208" y="2249424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Alerta de pendências antes de prosseguir (A1).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0" y="2670048"/>
            <a:ext cx="457200" cy="45720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3" name="Image 1" descr="/home/claude/ic/biometria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788920"/>
            <a:ext cx="219456" cy="21945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236208" y="2633472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não reconhecida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236208" y="2907792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Reposicionar; após 3 tentativas, encerra (E1).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669280" y="3328416"/>
            <a:ext cx="457200" cy="45720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7" name="Image 2" descr="/home/claude/ic/emprestim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3447288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236208" y="32918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projetor disponível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236208" y="3566160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Atendimento encerrado sem registro (E2).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69280" y="3986784"/>
            <a:ext cx="457200" cy="45720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1" name="Image 3" descr="/home/claude/ic/seguranca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4105656"/>
            <a:ext cx="219456" cy="21945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236208" y="3950208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Falha ao salvar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236208" y="4224528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Operação atômica — nada é alterado (E4).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DECISÕES QUE O SISTEMA GARANTE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Regras de Negócio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640080" y="155448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35024" y="146304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Empréstimo só com professor identificado por biometria.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1AA0B8"/>
          </a:solidFill>
        </p:spPr>
      </p:sp>
      <p:sp>
        <p:nvSpPr>
          <p:cNvPr id="10" name="Text 8"/>
          <p:cNvSpPr/>
          <p:nvPr/>
        </p:nvSpPr>
        <p:spPr>
          <a:xfrm>
            <a:off x="640080" y="214884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35024" y="205740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Projetor "emprestado" não pode ser emprestado novamente.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640080" y="274320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35024" y="265176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Alerta de empréstimos em aberto antes de um novo.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1AA0B8"/>
          </a:solidFill>
        </p:spPr>
      </p:sp>
      <p:sp>
        <p:nvSpPr>
          <p:cNvPr id="18" name="Text 16"/>
          <p:cNvSpPr/>
          <p:nvPr/>
        </p:nvSpPr>
        <p:spPr>
          <a:xfrm>
            <a:off x="640080" y="333756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35024" y="324612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Formulário preenchido automaticamente após a biometria.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3192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640080" y="393192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35024" y="384048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Só funcionário autenticado registra empréstimo/devolução.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43484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52628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1AA0B8"/>
          </a:solidFill>
        </p:spPr>
      </p:sp>
      <p:sp>
        <p:nvSpPr>
          <p:cNvPr id="26" name="Text 24"/>
          <p:cNvSpPr/>
          <p:nvPr/>
        </p:nvSpPr>
        <p:spPr>
          <a:xfrm>
            <a:off x="640080" y="452628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35024" y="443484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Devolução encerra o empréstimo e libera o projetor (atômico).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46304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155448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4736592" y="155448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31536" y="146304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Todo empréstimo registra dados para os relatórios.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05740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36592" y="214884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1AA0B8"/>
          </a:solidFill>
        </p:spPr>
      </p:sp>
      <p:sp>
        <p:nvSpPr>
          <p:cNvPr id="34" name="Text 32"/>
          <p:cNvSpPr/>
          <p:nvPr/>
        </p:nvSpPr>
        <p:spPr>
          <a:xfrm>
            <a:off x="4736592" y="214884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31536" y="205740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projetor tem número único e código de barras.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65176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274320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</p:spPr>
      </p:sp>
      <p:sp>
        <p:nvSpPr>
          <p:cNvPr id="38" name="Text 36"/>
          <p:cNvSpPr/>
          <p:nvPr/>
        </p:nvSpPr>
        <p:spPr>
          <a:xfrm>
            <a:off x="4736592" y="274320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31536" y="265176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E-mail de confirmação automático ao professor.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24612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6592" y="333756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1AA0B8"/>
          </a:solidFill>
        </p:spPr>
      </p:sp>
      <p:sp>
        <p:nvSpPr>
          <p:cNvPr id="42" name="Text 40"/>
          <p:cNvSpPr/>
          <p:nvPr/>
        </p:nvSpPr>
        <p:spPr>
          <a:xfrm>
            <a:off x="4736592" y="333756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31536" y="324612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gerencial restrito ao coordenador.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840480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6592" y="3931920"/>
            <a:ext cx="603504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4736592" y="3931920"/>
            <a:ext cx="60350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RN11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31536" y="3840480"/>
            <a:ext cx="3054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Estoque ≤ 20% gera alerta ao administrador.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ATRIBUTOS DE QUALIDADE DA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Principais Requisitos Não Funcionais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548640" cy="54864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gauge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2514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664208"/>
            <a:ext cx="16550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Desempenho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267712"/>
            <a:ext cx="2212848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Biometria ≤ 3s e formulário ≤ 1s; até 50 usuários simultâneos.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8132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682496"/>
            <a:ext cx="548640" cy="548640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/home/claude/ic/databas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06" y="182514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664208"/>
            <a:ext cx="16550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Capacidade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2267712"/>
            <a:ext cx="2212848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de 10+ anos sem perda de desempenho; RAM ≤ 512 MB.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9632" y="148132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1682496"/>
            <a:ext cx="548640" cy="54864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6" name="Image 2" descr="/home/claude/ic/signal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58" y="182514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22592" y="1664208"/>
            <a:ext cx="16550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Disponibilidade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0" y="2267712"/>
            <a:ext cx="2212848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≥ 99% no período letivo (seg–sáb, 07h–22h).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090672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91840"/>
            <a:ext cx="548640" cy="548640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/home/claude/ic/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3434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273552"/>
            <a:ext cx="16550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8096" y="3877056"/>
            <a:ext cx="2212848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por credenciais institucionais; dados protegidos.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83280" y="3090672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66160" y="3291840"/>
            <a:ext cx="548640" cy="548640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6" name="Image 4" descr="/home/claude/ic/user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806" y="34344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273552"/>
            <a:ext cx="16550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Autenticação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84448" y="3877056"/>
            <a:ext cx="2212848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integrado ao LDAP / SSO da Unifor.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99632" y="3090672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82512" y="3291840"/>
            <a:ext cx="548640" cy="548640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1" name="Image 5" descr="/home/claude/ic/access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158" y="343448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22592" y="3273552"/>
            <a:ext cx="16550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Acessibilidade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00800" y="3877056"/>
            <a:ext cx="2212848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conforme as diretrizes WCAG 2.1 nível AA.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COMPONENTES DA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Arquitetura &amp; Módulos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15184" cy="1207008"/>
          </a:xfrm>
          <a:prstGeom prst="roundRect">
            <a:avLst>
              <a:gd name="adj" fmla="val 6818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530352" cy="530352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ic/lock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00" y="178381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9344"/>
            <a:ext cx="1700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Autenticação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121408"/>
            <a:ext cx="22128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por perfil (funcionário / coordenador)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615184" cy="1207008"/>
          </a:xfrm>
          <a:prstGeom prst="roundRect">
            <a:avLst>
              <a:gd name="adj" fmla="val 6818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645920"/>
            <a:ext cx="530352" cy="530352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/home/claude/ic/emprestim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052" y="17838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609344"/>
            <a:ext cx="1700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Empréstimos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84448" y="2121408"/>
            <a:ext cx="22128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Registro e seleção de projetores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9632" y="1463040"/>
            <a:ext cx="2615184" cy="1207008"/>
          </a:xfrm>
          <a:prstGeom prst="roundRect">
            <a:avLst>
              <a:gd name="adj" fmla="val 6818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1645920"/>
            <a:ext cx="530352" cy="530352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6" name="Image 2" descr="/home/claude/ic/devoluca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404" y="1783812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04304" y="1609344"/>
            <a:ext cx="1700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Devoluções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0" y="2121408"/>
            <a:ext cx="22128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Baixa do empréstimo e liberação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" y="2816352"/>
            <a:ext cx="2615184" cy="1207008"/>
          </a:xfrm>
          <a:prstGeom prst="roundRect">
            <a:avLst>
              <a:gd name="adj" fmla="val 6818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2999232"/>
            <a:ext cx="530352" cy="530352"/>
          </a:xfrm>
          <a:prstGeom prst="ellipse">
            <a:avLst/>
          </a:prstGeom>
          <a:solidFill>
            <a:srgbClr val="1AA0B8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/home/claude/ic/emai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00" y="3137124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2962656"/>
            <a:ext cx="1700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Notificações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3474720"/>
            <a:ext cx="22128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E-mail institucional automático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383280" y="2816352"/>
            <a:ext cx="2615184" cy="1207008"/>
          </a:xfrm>
          <a:prstGeom prst="roundRect">
            <a:avLst>
              <a:gd name="adj" fmla="val 6818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66160" y="2999232"/>
            <a:ext cx="530352" cy="530352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6" name="Image 4" descr="/home/claude/ic/relatorios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4052" y="3137124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87952" y="2962656"/>
            <a:ext cx="1700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Relatórios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584448" y="3474720"/>
            <a:ext cx="22128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Métricas e indicadores gerenciais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99632" y="2816352"/>
            <a:ext cx="2615184" cy="1207008"/>
          </a:xfrm>
          <a:prstGeom prst="roundRect">
            <a:avLst>
              <a:gd name="adj" fmla="val 6818"/>
            </a:avLst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82512" y="2999232"/>
            <a:ext cx="530352" cy="530352"/>
          </a:xfrm>
          <a:prstGeom prst="ellipse">
            <a:avLst/>
          </a:prstGeom>
          <a:solidFill>
            <a:srgbClr val="0E2A47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1" name="Image 5" descr="/home/claude/ic/databas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404" y="3137124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04304" y="2962656"/>
            <a:ext cx="1700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Dados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400800" y="3474720"/>
            <a:ext cx="22128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relacional dos empréstimos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66928" y="4187952"/>
            <a:ext cx="8028432" cy="603504"/>
          </a:xfrm>
          <a:prstGeom prst="roundRect">
            <a:avLst>
              <a:gd name="adj" fmla="val 15152"/>
            </a:avLst>
          </a:prstGeom>
          <a:solidFill>
            <a:srgbClr val="0E2A47"/>
          </a:solidFill>
        </p:spPr>
      </p:sp>
      <p:sp>
        <p:nvSpPr>
          <p:cNvPr id="35" name="Shape 27"/>
          <p:cNvSpPr/>
          <p:nvPr/>
        </p:nvSpPr>
        <p:spPr>
          <a:xfrm>
            <a:off x="749808" y="4288536"/>
            <a:ext cx="402336" cy="402336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6" name="Image 6" descr="/home/claude/ic/plug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15" y="4393143"/>
            <a:ext cx="193121" cy="19312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4187952"/>
            <a:ext cx="72237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Integrações:  </a:t>
            </a:r>
            <a:r>
              <a:rPr lang="en-US" sz="1150" dirty="0">
                <a:solidFill>
                  <a:srgbClr val="DCE7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Leitora biométrica (USB/rede local)   ·   Sistema Acadêmico da Unifor   ·   Servidor de e-mail institucional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3383280" cy="3383280"/>
          </a:xfrm>
          <a:prstGeom prst="ellipse">
            <a:avLst/>
          </a:prstGeom>
          <a:solidFill>
            <a:srgbClr val="13355C"/>
          </a:solidFill>
        </p:spPr>
      </p:sp>
      <p:sp>
        <p:nvSpPr>
          <p:cNvPr id="3" name="Shape 1"/>
          <p:cNvSpPr/>
          <p:nvPr/>
        </p:nvSpPr>
        <p:spPr>
          <a:xfrm>
            <a:off x="-1280160" y="3291840"/>
            <a:ext cx="3108960" cy="3108960"/>
          </a:xfrm>
          <a:prstGeom prst="ellipse">
            <a:avLst/>
          </a:prstGeom>
          <a:solidFill>
            <a:srgbClr val="0B2138"/>
          </a:solidFill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Protótipo de Telas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9 telas do sistema, explicadas a seguir uma a uma.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7" name="Text 5"/>
          <p:cNvSpPr/>
          <p:nvPr/>
        </p:nvSpPr>
        <p:spPr>
          <a:xfrm>
            <a:off x="676656" y="1874520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7008" y="2020824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home/claude/ic/login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370" y="2130186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0784" y="1874520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64992" y="1874520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12" name="Text 9"/>
          <p:cNvSpPr/>
          <p:nvPr/>
        </p:nvSpPr>
        <p:spPr>
          <a:xfrm>
            <a:off x="3493008" y="1874520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023360" y="2020824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4" name="Image 1" descr="/home/claude/ic/painel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722" y="2130186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7136" y="1874520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Painel do Coordenador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81344" y="1874520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17" name="Text 13"/>
          <p:cNvSpPr/>
          <p:nvPr/>
        </p:nvSpPr>
        <p:spPr>
          <a:xfrm>
            <a:off x="6309360" y="1874520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839712" y="2020824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9" name="Image 2" descr="/home/claude/ic/inventari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74" y="2130186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33488" y="1874520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Gestão de Inventário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2752344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22" name="Text 17"/>
          <p:cNvSpPr/>
          <p:nvPr/>
        </p:nvSpPr>
        <p:spPr>
          <a:xfrm>
            <a:off x="676656" y="2752344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1207008" y="2898648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4" name="Image 3" descr="/home/claude/ic/balcao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370" y="3008010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00784" y="2752344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Balcão de Atendimento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3364992" y="2752344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27" name="Text 21"/>
          <p:cNvSpPr/>
          <p:nvPr/>
        </p:nvSpPr>
        <p:spPr>
          <a:xfrm>
            <a:off x="3493008" y="2752344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4023360" y="2898648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9" name="Image 4" descr="/home/claude/ic/confirmacao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722" y="3008010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17136" y="2752344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Confirmar Empréstimo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181344" y="2752344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32" name="Text 25"/>
          <p:cNvSpPr/>
          <p:nvPr/>
        </p:nvSpPr>
        <p:spPr>
          <a:xfrm>
            <a:off x="6309360" y="2752344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6839712" y="2898648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4" name="Image 5" descr="/home/claude/ic/relatorios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074" y="3008010"/>
            <a:ext cx="201900" cy="2019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33488" y="2752344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Relatórios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548640" y="3630168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37" name="Text 29"/>
          <p:cNvSpPr/>
          <p:nvPr/>
        </p:nvSpPr>
        <p:spPr>
          <a:xfrm>
            <a:off x="676656" y="3630168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1207008" y="3776472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9" name="Image 6" descr="/home/claude/ic/config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6370" y="3885834"/>
            <a:ext cx="201900" cy="2019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700784" y="3630168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Configurações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3364992" y="3630168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42" name="Text 33"/>
          <p:cNvSpPr/>
          <p:nvPr/>
        </p:nvSpPr>
        <p:spPr>
          <a:xfrm>
            <a:off x="3493008" y="3630168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Shape 34"/>
          <p:cNvSpPr/>
          <p:nvPr/>
        </p:nvSpPr>
        <p:spPr>
          <a:xfrm>
            <a:off x="4023360" y="3776472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4" name="Image 7" descr="/home/claude/ic/status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2722" y="3885834"/>
            <a:ext cx="201900" cy="20190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517136" y="3630168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do Sistema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6181344" y="3630168"/>
            <a:ext cx="2615184" cy="713232"/>
          </a:xfrm>
          <a:prstGeom prst="roundRect">
            <a:avLst>
              <a:gd name="adj" fmla="val 12821"/>
            </a:avLst>
          </a:prstGeom>
          <a:solidFill>
            <a:srgbClr val="13355C"/>
          </a:solidFill>
        </p:spPr>
      </p:sp>
      <p:sp>
        <p:nvSpPr>
          <p:cNvPr id="47" name="Text 37"/>
          <p:cNvSpPr/>
          <p:nvPr/>
        </p:nvSpPr>
        <p:spPr>
          <a:xfrm>
            <a:off x="6309360" y="3630168"/>
            <a:ext cx="502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Shape 38"/>
          <p:cNvSpPr/>
          <p:nvPr/>
        </p:nvSpPr>
        <p:spPr>
          <a:xfrm>
            <a:off x="6839712" y="3776472"/>
            <a:ext cx="420624" cy="420624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9" name="Image 8" descr="/home/claude/ic/ajuda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074" y="3885834"/>
            <a:ext cx="201900" cy="20190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7333488" y="3630168"/>
            <a:ext cx="138988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de Ajuda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AUTENTICAÇÃO &amp; ACESSO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com e-mail institucional e senha, com perfis de Funcionário e Coordenador.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Opção "Simular Perfil" para demonstrar o fluxo rapidamente.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do controle de acesso — relatórios restritos ao coordenador.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1-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VISÃO EM TEMPO REAL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Painel do Coordenador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Indicadores de total de projetores, alugados, em manutenção e modelo mais usado.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Gráfico de frequência de uso na semana e ranking de usuários frequentes.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de uso recente com o status de cada empréstimo.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2-pain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E2A47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ACERVO DE PROJETORES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Gestão de Inventário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projetor identificado por ID e código de barras, com modelo e responsável.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visual: Disponível, Emprestado ou Manutenção.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Buscar, filtrar, paginar, cadastrar/editar e exportar a lista (CSV).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3-inventar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INÍCIO DO EMPRÉSTIMO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Balcão de Atendimento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Leitura biométrica do professor para identificação sem digitação.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Lista dos empréstimos ativos no atendimento.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Alerta de empréstimos em aberto antes de registrar um novo.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4-balca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REGISTRO DO EMPRÉSTIMO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Confirmar Dados do Professor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Dados preenchidos automaticamente após a biometria: nome, matrícula e contato.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Seleção do projetor disponível e registro de itens adicionais.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Aviso de auditoria e confirmação vinculada à biometria do professor.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5-confirmaca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E2A47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MÉTRICAS GERENCIAIS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Relatórios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Uso por departamento e por modelo de projetor.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Professores que mais utilizam e horários de pico de demanda.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Exportação dos relatórios para apoiar a gestão do acervo.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6-relatorio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 &amp; PREFERÊNCIAS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Configurações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Abas de Conta, Notificações, Segurança e Sistema.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Troca de senha com indicador de força.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Preferências do usuário e parâmetros do sistema.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7-configuraco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A0B8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A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do Sistema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Situação dos serviços: banco de dados, scanner biométrico, autenticação, e-mail e backup.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de eventos recentes, auditável por usuário e horário.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Apoia a operação e a confiabilidade do sistema.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8-stat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E2A47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502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SUPORTE AO USUÁRIO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25296" y="749808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de Ajuda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1546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Ações rápidas: registrar empréstimo, inventário, relatórios e suporte.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Perguntas frequentes (FAQ) com respostas diretas.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Contato com o suporte técnico do CCT.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22192" y="533527"/>
            <a:ext cx="4974336" cy="409930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/home/claude/shots/09-ajud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7535"/>
            <a:ext cx="484632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3291840" cy="3291840"/>
          </a:xfrm>
          <a:prstGeom prst="ellipse">
            <a:avLst/>
          </a:prstGeom>
          <a:solidFill>
            <a:srgbClr val="13355C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Demonstração do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6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Vídeo de demonstração — reproduz no slide com áudio.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38528" y="1481328"/>
            <a:ext cx="5266944" cy="3026664"/>
          </a:xfrm>
          <a:prstGeom prst="roundRect">
            <a:avLst>
              <a:gd name="adj" fmla="val 2417"/>
            </a:avLst>
          </a:prstGeom>
          <a:solidFill>
            <a:srgbClr val="0B2138"/>
          </a:solidFill>
          <a:effectLst>
            <a:outerShdw blurRad="203200" dist="635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pt-BR" sz="1250" dirty="0"/>
              <a:t>https://youtu.be/OQZ0tl9d5-A</a:t>
            </a:r>
            <a:endParaRPr lang="en-US" altLang="pt-BR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3355C"/>
          </a:solidFill>
        </p:spPr>
      </p:sp>
      <p:sp>
        <p:nvSpPr>
          <p:cNvPr id="3" name="Shape 1"/>
          <p:cNvSpPr/>
          <p:nvPr/>
        </p:nvSpPr>
        <p:spPr>
          <a:xfrm>
            <a:off x="7863840" y="3108960"/>
            <a:ext cx="3108960" cy="3108960"/>
          </a:xfrm>
          <a:prstGeom prst="ellipse">
            <a:avLst/>
          </a:prstGeom>
          <a:solidFill>
            <a:srgbClr val="0B2138"/>
          </a:solidFill>
        </p:spPr>
      </p:sp>
      <p:sp>
        <p:nvSpPr>
          <p:cNvPr id="4" name="Shape 2"/>
          <p:cNvSpPr/>
          <p:nvPr/>
        </p:nvSpPr>
        <p:spPr>
          <a:xfrm>
            <a:off x="4114800" y="1143000"/>
            <a:ext cx="914400" cy="914400"/>
          </a:xfrm>
          <a:prstGeom prst="ellipse">
            <a:avLst/>
          </a:prstGeom>
          <a:solidFill>
            <a:srgbClr val="2563EB"/>
          </a:solidFill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c/monitor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13807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6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de Empréstimo de Projetores · CCT / Unifor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João Gabriel    ·    Paulo Vitor    ·    Bruno Abreu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8702</Words>
  <Application>WPS Presentation</Application>
  <PresentationFormat>On-screen Show (16:9)</PresentationFormat>
  <Paragraphs>563</Paragraphs>
  <Slides>26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Empréstimo de Projetores — CCT/Unifor</dc:title>
  <dc:creator>João Gabriel · Paulo Vitor · Bruno Abreu</dc:creator>
  <dc:subject>PptxGenJS Presentation</dc:subject>
  <cp:lastModifiedBy>spadex</cp:lastModifiedBy>
  <cp:revision>8</cp:revision>
  <dcterms:created xsi:type="dcterms:W3CDTF">2026-06-11T16:54:00Z</dcterms:created>
  <dcterms:modified xsi:type="dcterms:W3CDTF">2026-06-11T17:47:55Z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1046-12.1.0.25862</vt:lpwstr>
  </property>
  <property fmtid="{D5CDD505-2E9C-101B-9397-08002B2CF9AE}" pid="3" name="ICV">
    <vt:lpwstr>C8042004003846F6B033A89727AAD243_13</vt:lpwstr>
  </property>
</Properties>
</file>